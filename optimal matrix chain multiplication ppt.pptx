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VAG Rounded Next Shine" charset="1" panose="04020805020F02030202"/>
      <p:regular r:id="rId10"/>
    </p:embeddedFont>
    <p:embeddedFont>
      <p:font typeface="Japan" charset="1" panose="02060603050605020204"/>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2ED"/>
        </a:solidFill>
      </p:bgPr>
    </p:bg>
    <p:spTree>
      <p:nvGrpSpPr>
        <p:cNvPr id="1" name=""/>
        <p:cNvGrpSpPr/>
        <p:nvPr/>
      </p:nvGrpSpPr>
      <p:grpSpPr>
        <a:xfrm>
          <a:off x="0" y="0"/>
          <a:ext cx="0" cy="0"/>
          <a:chOff x="0" y="0"/>
          <a:chExt cx="0" cy="0"/>
        </a:xfrm>
      </p:grpSpPr>
      <p:sp>
        <p:nvSpPr>
          <p:cNvPr name="Freeform 2" id="2"/>
          <p:cNvSpPr/>
          <p:nvPr/>
        </p:nvSpPr>
        <p:spPr>
          <a:xfrm flipH="false" flipV="false" rot="0">
            <a:off x="-6210437" y="-200289"/>
            <a:ext cx="13054288" cy="9650795"/>
          </a:xfrm>
          <a:custGeom>
            <a:avLst/>
            <a:gdLst/>
            <a:ahLst/>
            <a:cxnLst/>
            <a:rect r="r" b="b" t="t" l="l"/>
            <a:pathLst>
              <a:path h="9650795" w="13054288">
                <a:moveTo>
                  <a:pt x="0" y="0"/>
                </a:moveTo>
                <a:lnTo>
                  <a:pt x="13054288" y="0"/>
                </a:lnTo>
                <a:lnTo>
                  <a:pt x="13054288" y="9650794"/>
                </a:lnTo>
                <a:lnTo>
                  <a:pt x="0" y="9650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84513" y="5143500"/>
            <a:ext cx="9240697" cy="7775103"/>
          </a:xfrm>
          <a:custGeom>
            <a:avLst/>
            <a:gdLst/>
            <a:ahLst/>
            <a:cxnLst/>
            <a:rect r="r" b="b" t="t" l="l"/>
            <a:pathLst>
              <a:path h="7775103" w="9240697">
                <a:moveTo>
                  <a:pt x="0" y="0"/>
                </a:moveTo>
                <a:lnTo>
                  <a:pt x="9240697" y="0"/>
                </a:lnTo>
                <a:lnTo>
                  <a:pt x="9240697" y="7775103"/>
                </a:lnTo>
                <a:lnTo>
                  <a:pt x="0" y="77751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1001842" y="9290531"/>
            <a:ext cx="3024824" cy="1746408"/>
          </a:xfrm>
          <a:custGeom>
            <a:avLst/>
            <a:gdLst/>
            <a:ahLst/>
            <a:cxnLst/>
            <a:rect r="r" b="b" t="t" l="l"/>
            <a:pathLst>
              <a:path h="1746408" w="3024824">
                <a:moveTo>
                  <a:pt x="0" y="0"/>
                </a:moveTo>
                <a:lnTo>
                  <a:pt x="3024824" y="0"/>
                </a:lnTo>
                <a:lnTo>
                  <a:pt x="3024824" y="1746408"/>
                </a:lnTo>
                <a:lnTo>
                  <a:pt x="0" y="17464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529420" y="3499856"/>
            <a:ext cx="6591359" cy="4114800"/>
          </a:xfrm>
          <a:custGeom>
            <a:avLst/>
            <a:gdLst/>
            <a:ahLst/>
            <a:cxnLst/>
            <a:rect r="r" b="b" t="t" l="l"/>
            <a:pathLst>
              <a:path h="4114800" w="6591359">
                <a:moveTo>
                  <a:pt x="0" y="0"/>
                </a:moveTo>
                <a:lnTo>
                  <a:pt x="6591360" y="0"/>
                </a:lnTo>
                <a:lnTo>
                  <a:pt x="659136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9473383">
            <a:off x="-2488578" y="-1532444"/>
            <a:ext cx="7315200" cy="3900850"/>
          </a:xfrm>
          <a:custGeom>
            <a:avLst/>
            <a:gdLst/>
            <a:ahLst/>
            <a:cxnLst/>
            <a:rect r="r" b="b" t="t" l="l"/>
            <a:pathLst>
              <a:path h="3900850" w="7315200">
                <a:moveTo>
                  <a:pt x="0" y="0"/>
                </a:moveTo>
                <a:lnTo>
                  <a:pt x="7315200" y="0"/>
                </a:lnTo>
                <a:lnTo>
                  <a:pt x="7315200" y="3900850"/>
                </a:lnTo>
                <a:lnTo>
                  <a:pt x="0" y="39008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2085039" y="3793270"/>
            <a:ext cx="3113739" cy="2700461"/>
          </a:xfrm>
          <a:custGeom>
            <a:avLst/>
            <a:gdLst/>
            <a:ahLst/>
            <a:cxnLst/>
            <a:rect r="r" b="b" t="t" l="l"/>
            <a:pathLst>
              <a:path h="2700461" w="3113739">
                <a:moveTo>
                  <a:pt x="0" y="0"/>
                </a:moveTo>
                <a:lnTo>
                  <a:pt x="3113739" y="0"/>
                </a:lnTo>
                <a:lnTo>
                  <a:pt x="3113739" y="2700460"/>
                </a:lnTo>
                <a:lnTo>
                  <a:pt x="0" y="270046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6256785" y="8106335"/>
            <a:ext cx="2005030" cy="4114800"/>
          </a:xfrm>
          <a:custGeom>
            <a:avLst/>
            <a:gdLst/>
            <a:ahLst/>
            <a:cxnLst/>
            <a:rect r="r" b="b" t="t" l="l"/>
            <a:pathLst>
              <a:path h="4114800" w="2005030">
                <a:moveTo>
                  <a:pt x="0" y="0"/>
                </a:moveTo>
                <a:lnTo>
                  <a:pt x="2005030" y="0"/>
                </a:lnTo>
                <a:lnTo>
                  <a:pt x="2005030"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8145707" y="8673823"/>
            <a:ext cx="5712271" cy="2846562"/>
          </a:xfrm>
          <a:custGeom>
            <a:avLst/>
            <a:gdLst/>
            <a:ahLst/>
            <a:cxnLst/>
            <a:rect r="r" b="b" t="t" l="l"/>
            <a:pathLst>
              <a:path h="2846562" w="5712271">
                <a:moveTo>
                  <a:pt x="0" y="0"/>
                </a:moveTo>
                <a:lnTo>
                  <a:pt x="5712271" y="0"/>
                </a:lnTo>
                <a:lnTo>
                  <a:pt x="5712271" y="2846562"/>
                </a:lnTo>
                <a:lnTo>
                  <a:pt x="0" y="284656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777834" y="8673823"/>
            <a:ext cx="3893712" cy="2363116"/>
          </a:xfrm>
          <a:custGeom>
            <a:avLst/>
            <a:gdLst/>
            <a:ahLst/>
            <a:cxnLst/>
            <a:rect r="r" b="b" t="t" l="l"/>
            <a:pathLst>
              <a:path h="2363116" w="3893712">
                <a:moveTo>
                  <a:pt x="0" y="0"/>
                </a:moveTo>
                <a:lnTo>
                  <a:pt x="3893712" y="0"/>
                </a:lnTo>
                <a:lnTo>
                  <a:pt x="3893712" y="2363116"/>
                </a:lnTo>
                <a:lnTo>
                  <a:pt x="0" y="236311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14487169" y="-3732654"/>
            <a:ext cx="5544262" cy="5507152"/>
          </a:xfrm>
          <a:custGeom>
            <a:avLst/>
            <a:gdLst/>
            <a:ahLst/>
            <a:cxnLst/>
            <a:rect r="r" b="b" t="t" l="l"/>
            <a:pathLst>
              <a:path h="5507152" w="5544262">
                <a:moveTo>
                  <a:pt x="0" y="0"/>
                </a:moveTo>
                <a:lnTo>
                  <a:pt x="5544262" y="0"/>
                </a:lnTo>
                <a:lnTo>
                  <a:pt x="5544262" y="5507152"/>
                </a:lnTo>
                <a:lnTo>
                  <a:pt x="0" y="550715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9740279" y="8187771"/>
            <a:ext cx="8547721" cy="1743710"/>
          </a:xfrm>
          <a:prstGeom prst="rect">
            <a:avLst/>
          </a:prstGeom>
        </p:spPr>
        <p:txBody>
          <a:bodyPr anchor="t" rtlCol="false" tIns="0" lIns="0" bIns="0" rIns="0">
            <a:spAutoFit/>
          </a:bodyPr>
          <a:lstStyle/>
          <a:p>
            <a:pPr algn="ctr">
              <a:lnSpc>
                <a:spcPts val="3399"/>
              </a:lnSpc>
            </a:pPr>
            <a:r>
              <a:rPr lang="en-US" sz="3399">
                <a:solidFill>
                  <a:srgbClr val="E59696"/>
                </a:solidFill>
                <a:latin typeface="VAG Rounded Next Shine"/>
                <a:ea typeface="VAG Rounded Next Shine"/>
                <a:cs typeface="VAG Rounded Next Shine"/>
                <a:sym typeface="VAG Rounded Next Shine"/>
              </a:rPr>
              <a:t>2520030348</a:t>
            </a:r>
          </a:p>
          <a:p>
            <a:pPr algn="ctr">
              <a:lnSpc>
                <a:spcPts val="3399"/>
              </a:lnSpc>
            </a:pPr>
            <a:r>
              <a:rPr lang="en-US" sz="3399">
                <a:solidFill>
                  <a:srgbClr val="E59696"/>
                </a:solidFill>
                <a:latin typeface="VAG Rounded Next Shine"/>
                <a:ea typeface="VAG Rounded Next Shine"/>
                <a:cs typeface="VAG Rounded Next Shine"/>
                <a:sym typeface="VAG Rounded Next Shine"/>
              </a:rPr>
              <a:t>2520030298</a:t>
            </a:r>
          </a:p>
          <a:p>
            <a:pPr algn="ctr">
              <a:lnSpc>
                <a:spcPts val="3399"/>
              </a:lnSpc>
            </a:pPr>
            <a:r>
              <a:rPr lang="en-US" sz="3399">
                <a:solidFill>
                  <a:srgbClr val="E59696"/>
                </a:solidFill>
                <a:latin typeface="VAG Rounded Next Shine"/>
                <a:ea typeface="VAG Rounded Next Shine"/>
                <a:cs typeface="VAG Rounded Next Shine"/>
                <a:sym typeface="VAG Rounded Next Shine"/>
              </a:rPr>
              <a:t>2520030205</a:t>
            </a:r>
          </a:p>
          <a:p>
            <a:pPr algn="ctr">
              <a:lnSpc>
                <a:spcPts val="3399"/>
              </a:lnSpc>
            </a:pPr>
            <a:r>
              <a:rPr lang="en-US" sz="3399">
                <a:solidFill>
                  <a:srgbClr val="E59696"/>
                </a:solidFill>
                <a:latin typeface="VAG Rounded Next Shine"/>
                <a:ea typeface="VAG Rounded Next Shine"/>
                <a:cs typeface="VAG Rounded Next Shine"/>
                <a:sym typeface="VAG Rounded Next Shine"/>
              </a:rPr>
              <a:t>TEAM NUMBER-2</a:t>
            </a:r>
          </a:p>
        </p:txBody>
      </p:sp>
      <p:sp>
        <p:nvSpPr>
          <p:cNvPr name="TextBox 13" id="13"/>
          <p:cNvSpPr txBox="true"/>
          <p:nvPr/>
        </p:nvSpPr>
        <p:spPr>
          <a:xfrm rot="0">
            <a:off x="9113052" y="2941723"/>
            <a:ext cx="9525" cy="1566544"/>
          </a:xfrm>
          <a:prstGeom prst="rect">
            <a:avLst/>
          </a:prstGeom>
        </p:spPr>
        <p:txBody>
          <a:bodyPr anchor="t" rtlCol="false" tIns="0" lIns="0" bIns="0" rIns="0">
            <a:spAutoFit/>
          </a:bodyPr>
          <a:lstStyle/>
          <a:p>
            <a:pPr algn="ctr">
              <a:lnSpc>
                <a:spcPts val="12880"/>
              </a:lnSpc>
            </a:pPr>
          </a:p>
        </p:txBody>
      </p:sp>
      <p:sp>
        <p:nvSpPr>
          <p:cNvPr name="TextBox 14" id="14"/>
          <p:cNvSpPr txBox="true"/>
          <p:nvPr/>
        </p:nvSpPr>
        <p:spPr>
          <a:xfrm rot="0">
            <a:off x="126340" y="3398607"/>
            <a:ext cx="18161660" cy="2324089"/>
          </a:xfrm>
          <a:prstGeom prst="rect">
            <a:avLst/>
          </a:prstGeom>
        </p:spPr>
        <p:txBody>
          <a:bodyPr anchor="t" rtlCol="false" tIns="0" lIns="0" bIns="0" rIns="0">
            <a:spAutoFit/>
          </a:bodyPr>
          <a:lstStyle/>
          <a:p>
            <a:pPr algn="ctr">
              <a:lnSpc>
                <a:spcPts val="8999"/>
              </a:lnSpc>
              <a:spcBef>
                <a:spcPct val="0"/>
              </a:spcBef>
            </a:pPr>
            <a:r>
              <a:rPr lang="en-US" sz="8999">
                <a:solidFill>
                  <a:srgbClr val="6682B9"/>
                </a:solidFill>
                <a:latin typeface="VAG Rounded Next Shine"/>
                <a:ea typeface="VAG Rounded Next Shine"/>
                <a:cs typeface="VAG Rounded Next Shine"/>
                <a:sym typeface="VAG Rounded Next Shine"/>
              </a:rPr>
              <a:t>OPTIMAL MATRIX CHAIN MULTIPLICATION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2ED"/>
        </a:solidFill>
      </p:bgPr>
    </p:bg>
    <p:spTree>
      <p:nvGrpSpPr>
        <p:cNvPr id="1" name=""/>
        <p:cNvGrpSpPr/>
        <p:nvPr/>
      </p:nvGrpSpPr>
      <p:grpSpPr>
        <a:xfrm>
          <a:off x="0" y="0"/>
          <a:ext cx="0" cy="0"/>
          <a:chOff x="0" y="0"/>
          <a:chExt cx="0" cy="0"/>
        </a:xfrm>
      </p:grpSpPr>
      <p:sp>
        <p:nvSpPr>
          <p:cNvPr name="Freeform 2" id="2"/>
          <p:cNvSpPr/>
          <p:nvPr/>
        </p:nvSpPr>
        <p:spPr>
          <a:xfrm flipH="false" flipV="false" rot="0">
            <a:off x="-6210437" y="-200289"/>
            <a:ext cx="13054288" cy="9650795"/>
          </a:xfrm>
          <a:custGeom>
            <a:avLst/>
            <a:gdLst/>
            <a:ahLst/>
            <a:cxnLst/>
            <a:rect r="r" b="b" t="t" l="l"/>
            <a:pathLst>
              <a:path h="9650795" w="13054288">
                <a:moveTo>
                  <a:pt x="0" y="0"/>
                </a:moveTo>
                <a:lnTo>
                  <a:pt x="13054288" y="0"/>
                </a:lnTo>
                <a:lnTo>
                  <a:pt x="13054288" y="9650794"/>
                </a:lnTo>
                <a:lnTo>
                  <a:pt x="0" y="9650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84513" y="5143500"/>
            <a:ext cx="9240697" cy="7775103"/>
          </a:xfrm>
          <a:custGeom>
            <a:avLst/>
            <a:gdLst/>
            <a:ahLst/>
            <a:cxnLst/>
            <a:rect r="r" b="b" t="t" l="l"/>
            <a:pathLst>
              <a:path h="7775103" w="9240697">
                <a:moveTo>
                  <a:pt x="0" y="0"/>
                </a:moveTo>
                <a:lnTo>
                  <a:pt x="9240697" y="0"/>
                </a:lnTo>
                <a:lnTo>
                  <a:pt x="9240697" y="7775103"/>
                </a:lnTo>
                <a:lnTo>
                  <a:pt x="0" y="77751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1001842" y="9290531"/>
            <a:ext cx="3024824" cy="1746408"/>
          </a:xfrm>
          <a:custGeom>
            <a:avLst/>
            <a:gdLst/>
            <a:ahLst/>
            <a:cxnLst/>
            <a:rect r="r" b="b" t="t" l="l"/>
            <a:pathLst>
              <a:path h="1746408" w="3024824">
                <a:moveTo>
                  <a:pt x="0" y="0"/>
                </a:moveTo>
                <a:lnTo>
                  <a:pt x="3024824" y="0"/>
                </a:lnTo>
                <a:lnTo>
                  <a:pt x="3024824" y="1746408"/>
                </a:lnTo>
                <a:lnTo>
                  <a:pt x="0" y="17464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529420" y="3499856"/>
            <a:ext cx="6591359" cy="4114800"/>
          </a:xfrm>
          <a:custGeom>
            <a:avLst/>
            <a:gdLst/>
            <a:ahLst/>
            <a:cxnLst/>
            <a:rect r="r" b="b" t="t" l="l"/>
            <a:pathLst>
              <a:path h="4114800" w="6591359">
                <a:moveTo>
                  <a:pt x="0" y="0"/>
                </a:moveTo>
                <a:lnTo>
                  <a:pt x="6591360" y="0"/>
                </a:lnTo>
                <a:lnTo>
                  <a:pt x="659136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9473383">
            <a:off x="-2488578" y="-1532444"/>
            <a:ext cx="7315200" cy="3900850"/>
          </a:xfrm>
          <a:custGeom>
            <a:avLst/>
            <a:gdLst/>
            <a:ahLst/>
            <a:cxnLst/>
            <a:rect r="r" b="b" t="t" l="l"/>
            <a:pathLst>
              <a:path h="3900850" w="7315200">
                <a:moveTo>
                  <a:pt x="0" y="0"/>
                </a:moveTo>
                <a:lnTo>
                  <a:pt x="7315200" y="0"/>
                </a:lnTo>
                <a:lnTo>
                  <a:pt x="7315200" y="3900850"/>
                </a:lnTo>
                <a:lnTo>
                  <a:pt x="0" y="39008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2085039" y="3793270"/>
            <a:ext cx="3113739" cy="2700461"/>
          </a:xfrm>
          <a:custGeom>
            <a:avLst/>
            <a:gdLst/>
            <a:ahLst/>
            <a:cxnLst/>
            <a:rect r="r" b="b" t="t" l="l"/>
            <a:pathLst>
              <a:path h="2700461" w="3113739">
                <a:moveTo>
                  <a:pt x="0" y="0"/>
                </a:moveTo>
                <a:lnTo>
                  <a:pt x="3113739" y="0"/>
                </a:lnTo>
                <a:lnTo>
                  <a:pt x="3113739" y="2700460"/>
                </a:lnTo>
                <a:lnTo>
                  <a:pt x="0" y="270046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6256785" y="8106335"/>
            <a:ext cx="2005030" cy="4114800"/>
          </a:xfrm>
          <a:custGeom>
            <a:avLst/>
            <a:gdLst/>
            <a:ahLst/>
            <a:cxnLst/>
            <a:rect r="r" b="b" t="t" l="l"/>
            <a:pathLst>
              <a:path h="4114800" w="2005030">
                <a:moveTo>
                  <a:pt x="0" y="0"/>
                </a:moveTo>
                <a:lnTo>
                  <a:pt x="2005030" y="0"/>
                </a:lnTo>
                <a:lnTo>
                  <a:pt x="2005030"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8145707" y="8673823"/>
            <a:ext cx="5712271" cy="2846562"/>
          </a:xfrm>
          <a:custGeom>
            <a:avLst/>
            <a:gdLst/>
            <a:ahLst/>
            <a:cxnLst/>
            <a:rect r="r" b="b" t="t" l="l"/>
            <a:pathLst>
              <a:path h="2846562" w="5712271">
                <a:moveTo>
                  <a:pt x="0" y="0"/>
                </a:moveTo>
                <a:lnTo>
                  <a:pt x="5712271" y="0"/>
                </a:lnTo>
                <a:lnTo>
                  <a:pt x="5712271" y="2846562"/>
                </a:lnTo>
                <a:lnTo>
                  <a:pt x="0" y="284656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777834" y="8673823"/>
            <a:ext cx="3893712" cy="2363116"/>
          </a:xfrm>
          <a:custGeom>
            <a:avLst/>
            <a:gdLst/>
            <a:ahLst/>
            <a:cxnLst/>
            <a:rect r="r" b="b" t="t" l="l"/>
            <a:pathLst>
              <a:path h="2363116" w="3893712">
                <a:moveTo>
                  <a:pt x="0" y="0"/>
                </a:moveTo>
                <a:lnTo>
                  <a:pt x="3893712" y="0"/>
                </a:lnTo>
                <a:lnTo>
                  <a:pt x="3893712" y="2363116"/>
                </a:lnTo>
                <a:lnTo>
                  <a:pt x="0" y="236311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14487169" y="-3732654"/>
            <a:ext cx="5544262" cy="5507152"/>
          </a:xfrm>
          <a:custGeom>
            <a:avLst/>
            <a:gdLst/>
            <a:ahLst/>
            <a:cxnLst/>
            <a:rect r="r" b="b" t="t" l="l"/>
            <a:pathLst>
              <a:path h="5507152" w="5544262">
                <a:moveTo>
                  <a:pt x="0" y="0"/>
                </a:moveTo>
                <a:lnTo>
                  <a:pt x="5544262" y="0"/>
                </a:lnTo>
                <a:lnTo>
                  <a:pt x="5544262" y="5507152"/>
                </a:lnTo>
                <a:lnTo>
                  <a:pt x="0" y="550715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2004444" y="1874403"/>
            <a:ext cx="14279113" cy="1155633"/>
          </a:xfrm>
          <a:prstGeom prst="rect">
            <a:avLst/>
          </a:prstGeom>
        </p:spPr>
        <p:txBody>
          <a:bodyPr anchor="t" rtlCol="false" tIns="0" lIns="0" bIns="0" rIns="0">
            <a:spAutoFit/>
          </a:bodyPr>
          <a:lstStyle/>
          <a:p>
            <a:pPr algn="ctr">
              <a:lnSpc>
                <a:spcPts val="8282"/>
              </a:lnSpc>
            </a:pPr>
            <a:r>
              <a:rPr lang="en-US" sz="9859">
                <a:solidFill>
                  <a:srgbClr val="6682B9"/>
                </a:solidFill>
                <a:latin typeface="VAG Rounded Next Shine"/>
                <a:ea typeface="VAG Rounded Next Shine"/>
                <a:cs typeface="VAG Rounded Next Shine"/>
                <a:sym typeface="VAG Rounded Next Shine"/>
              </a:rPr>
              <a:t>PROBLEM STATEMENT</a:t>
            </a:r>
          </a:p>
        </p:txBody>
      </p:sp>
      <p:sp>
        <p:nvSpPr>
          <p:cNvPr name="TextBox 13" id="13"/>
          <p:cNvSpPr txBox="true"/>
          <p:nvPr/>
        </p:nvSpPr>
        <p:spPr>
          <a:xfrm rot="0">
            <a:off x="1424336" y="4252595"/>
            <a:ext cx="16105084" cy="2648585"/>
          </a:xfrm>
          <a:prstGeom prst="rect">
            <a:avLst/>
          </a:prstGeom>
        </p:spPr>
        <p:txBody>
          <a:bodyPr anchor="t" rtlCol="false" tIns="0" lIns="0" bIns="0" rIns="0">
            <a:spAutoFit/>
          </a:bodyPr>
          <a:lstStyle/>
          <a:p>
            <a:pPr algn="l">
              <a:lnSpc>
                <a:spcPts val="3399"/>
              </a:lnSpc>
            </a:pPr>
            <a:r>
              <a:rPr lang="en-US" sz="3399">
                <a:solidFill>
                  <a:srgbClr val="E59696"/>
                </a:solidFill>
                <a:latin typeface="Japan"/>
                <a:ea typeface="Japan"/>
                <a:cs typeface="Japan"/>
                <a:sym typeface="Japan"/>
              </a:rPr>
              <a:t>Multiplying a chain of matrices can be done in several ways, but some multiplication orders require more calculations than others. Choosing an inefficient order increases the computation cost and execution time. The aim of this project is to find the best multiplication order that requires the minimum number of scalar multiplications, reduces unnecessary calculations, and improves the overall efficiency while producing the same final result.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2ED"/>
        </a:solidFill>
      </p:bgPr>
    </p:bg>
    <p:spTree>
      <p:nvGrpSpPr>
        <p:cNvPr id="1" name=""/>
        <p:cNvGrpSpPr/>
        <p:nvPr/>
      </p:nvGrpSpPr>
      <p:grpSpPr>
        <a:xfrm>
          <a:off x="0" y="0"/>
          <a:ext cx="0" cy="0"/>
          <a:chOff x="0" y="0"/>
          <a:chExt cx="0" cy="0"/>
        </a:xfrm>
      </p:grpSpPr>
      <p:sp>
        <p:nvSpPr>
          <p:cNvPr name="Freeform 2" id="2"/>
          <p:cNvSpPr/>
          <p:nvPr/>
        </p:nvSpPr>
        <p:spPr>
          <a:xfrm flipH="false" flipV="false" rot="0">
            <a:off x="-6210437" y="-200289"/>
            <a:ext cx="13054288" cy="9650795"/>
          </a:xfrm>
          <a:custGeom>
            <a:avLst/>
            <a:gdLst/>
            <a:ahLst/>
            <a:cxnLst/>
            <a:rect r="r" b="b" t="t" l="l"/>
            <a:pathLst>
              <a:path h="9650795" w="13054288">
                <a:moveTo>
                  <a:pt x="0" y="0"/>
                </a:moveTo>
                <a:lnTo>
                  <a:pt x="13054288" y="0"/>
                </a:lnTo>
                <a:lnTo>
                  <a:pt x="13054288" y="9650794"/>
                </a:lnTo>
                <a:lnTo>
                  <a:pt x="0" y="9650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84513" y="5143500"/>
            <a:ext cx="9240697" cy="7775103"/>
          </a:xfrm>
          <a:custGeom>
            <a:avLst/>
            <a:gdLst/>
            <a:ahLst/>
            <a:cxnLst/>
            <a:rect r="r" b="b" t="t" l="l"/>
            <a:pathLst>
              <a:path h="7775103" w="9240697">
                <a:moveTo>
                  <a:pt x="0" y="0"/>
                </a:moveTo>
                <a:lnTo>
                  <a:pt x="9240697" y="0"/>
                </a:lnTo>
                <a:lnTo>
                  <a:pt x="9240697" y="7775103"/>
                </a:lnTo>
                <a:lnTo>
                  <a:pt x="0" y="77751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1001842" y="9290531"/>
            <a:ext cx="3024824" cy="1746408"/>
          </a:xfrm>
          <a:custGeom>
            <a:avLst/>
            <a:gdLst/>
            <a:ahLst/>
            <a:cxnLst/>
            <a:rect r="r" b="b" t="t" l="l"/>
            <a:pathLst>
              <a:path h="1746408" w="3024824">
                <a:moveTo>
                  <a:pt x="0" y="0"/>
                </a:moveTo>
                <a:lnTo>
                  <a:pt x="3024824" y="0"/>
                </a:lnTo>
                <a:lnTo>
                  <a:pt x="3024824" y="1746408"/>
                </a:lnTo>
                <a:lnTo>
                  <a:pt x="0" y="17464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529420" y="3499856"/>
            <a:ext cx="6591359" cy="4114800"/>
          </a:xfrm>
          <a:custGeom>
            <a:avLst/>
            <a:gdLst/>
            <a:ahLst/>
            <a:cxnLst/>
            <a:rect r="r" b="b" t="t" l="l"/>
            <a:pathLst>
              <a:path h="4114800" w="6591359">
                <a:moveTo>
                  <a:pt x="0" y="0"/>
                </a:moveTo>
                <a:lnTo>
                  <a:pt x="6591360" y="0"/>
                </a:lnTo>
                <a:lnTo>
                  <a:pt x="659136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9473383">
            <a:off x="-2488578" y="-1532444"/>
            <a:ext cx="7315200" cy="3900850"/>
          </a:xfrm>
          <a:custGeom>
            <a:avLst/>
            <a:gdLst/>
            <a:ahLst/>
            <a:cxnLst/>
            <a:rect r="r" b="b" t="t" l="l"/>
            <a:pathLst>
              <a:path h="3900850" w="7315200">
                <a:moveTo>
                  <a:pt x="0" y="0"/>
                </a:moveTo>
                <a:lnTo>
                  <a:pt x="7315200" y="0"/>
                </a:lnTo>
                <a:lnTo>
                  <a:pt x="7315200" y="3900850"/>
                </a:lnTo>
                <a:lnTo>
                  <a:pt x="0" y="39008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2085039" y="3793270"/>
            <a:ext cx="3113739" cy="2700461"/>
          </a:xfrm>
          <a:custGeom>
            <a:avLst/>
            <a:gdLst/>
            <a:ahLst/>
            <a:cxnLst/>
            <a:rect r="r" b="b" t="t" l="l"/>
            <a:pathLst>
              <a:path h="2700461" w="3113739">
                <a:moveTo>
                  <a:pt x="0" y="0"/>
                </a:moveTo>
                <a:lnTo>
                  <a:pt x="3113739" y="0"/>
                </a:lnTo>
                <a:lnTo>
                  <a:pt x="3113739" y="2700460"/>
                </a:lnTo>
                <a:lnTo>
                  <a:pt x="0" y="270046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6256785" y="8106335"/>
            <a:ext cx="2005030" cy="4114800"/>
          </a:xfrm>
          <a:custGeom>
            <a:avLst/>
            <a:gdLst/>
            <a:ahLst/>
            <a:cxnLst/>
            <a:rect r="r" b="b" t="t" l="l"/>
            <a:pathLst>
              <a:path h="4114800" w="2005030">
                <a:moveTo>
                  <a:pt x="0" y="0"/>
                </a:moveTo>
                <a:lnTo>
                  <a:pt x="2005030" y="0"/>
                </a:lnTo>
                <a:lnTo>
                  <a:pt x="2005030"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8145707" y="8673823"/>
            <a:ext cx="5712271" cy="2846562"/>
          </a:xfrm>
          <a:custGeom>
            <a:avLst/>
            <a:gdLst/>
            <a:ahLst/>
            <a:cxnLst/>
            <a:rect r="r" b="b" t="t" l="l"/>
            <a:pathLst>
              <a:path h="2846562" w="5712271">
                <a:moveTo>
                  <a:pt x="0" y="0"/>
                </a:moveTo>
                <a:lnTo>
                  <a:pt x="5712271" y="0"/>
                </a:lnTo>
                <a:lnTo>
                  <a:pt x="5712271" y="2846562"/>
                </a:lnTo>
                <a:lnTo>
                  <a:pt x="0" y="284656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777834" y="8673823"/>
            <a:ext cx="3893712" cy="2363116"/>
          </a:xfrm>
          <a:custGeom>
            <a:avLst/>
            <a:gdLst/>
            <a:ahLst/>
            <a:cxnLst/>
            <a:rect r="r" b="b" t="t" l="l"/>
            <a:pathLst>
              <a:path h="2363116" w="3893712">
                <a:moveTo>
                  <a:pt x="0" y="0"/>
                </a:moveTo>
                <a:lnTo>
                  <a:pt x="3893712" y="0"/>
                </a:lnTo>
                <a:lnTo>
                  <a:pt x="3893712" y="2363116"/>
                </a:lnTo>
                <a:lnTo>
                  <a:pt x="0" y="236311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14487169" y="-3732654"/>
            <a:ext cx="5544262" cy="5507152"/>
          </a:xfrm>
          <a:custGeom>
            <a:avLst/>
            <a:gdLst/>
            <a:ahLst/>
            <a:cxnLst/>
            <a:rect r="r" b="b" t="t" l="l"/>
            <a:pathLst>
              <a:path h="5507152" w="5544262">
                <a:moveTo>
                  <a:pt x="0" y="0"/>
                </a:moveTo>
                <a:lnTo>
                  <a:pt x="5544262" y="0"/>
                </a:lnTo>
                <a:lnTo>
                  <a:pt x="5544262" y="5507152"/>
                </a:lnTo>
                <a:lnTo>
                  <a:pt x="0" y="550715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5015370" y="352425"/>
            <a:ext cx="10014581" cy="2333135"/>
          </a:xfrm>
          <a:prstGeom prst="rect">
            <a:avLst/>
          </a:prstGeom>
        </p:spPr>
        <p:txBody>
          <a:bodyPr anchor="t" rtlCol="false" tIns="0" lIns="0" bIns="0" rIns="0">
            <a:spAutoFit/>
          </a:bodyPr>
          <a:lstStyle/>
          <a:p>
            <a:pPr algn="ctr">
              <a:lnSpc>
                <a:spcPts val="8740"/>
              </a:lnSpc>
            </a:pPr>
            <a:r>
              <a:rPr lang="en-US" sz="10405">
                <a:solidFill>
                  <a:srgbClr val="6682B9"/>
                </a:solidFill>
                <a:latin typeface="VAG Rounded Next Shine"/>
                <a:ea typeface="VAG Rounded Next Shine"/>
                <a:cs typeface="VAG Rounded Next Shine"/>
                <a:sym typeface="VAG Rounded Next Shine"/>
              </a:rPr>
              <a:t>INPUT AND OUTPUT</a:t>
            </a:r>
          </a:p>
        </p:txBody>
      </p:sp>
      <p:sp>
        <p:nvSpPr>
          <p:cNvPr name="TextBox 13" id="13"/>
          <p:cNvSpPr txBox="true"/>
          <p:nvPr/>
        </p:nvSpPr>
        <p:spPr>
          <a:xfrm rot="0">
            <a:off x="2800251" y="2609360"/>
            <a:ext cx="11686918" cy="8990965"/>
          </a:xfrm>
          <a:prstGeom prst="rect">
            <a:avLst/>
          </a:prstGeom>
        </p:spPr>
        <p:txBody>
          <a:bodyPr anchor="t" rtlCol="false" tIns="0" lIns="0" bIns="0" rIns="0">
            <a:spAutoFit/>
          </a:bodyPr>
          <a:lstStyle/>
          <a:p>
            <a:pPr algn="l">
              <a:lnSpc>
                <a:spcPts val="4759"/>
              </a:lnSpc>
            </a:pPr>
            <a:r>
              <a:rPr lang="en-US" sz="3399">
                <a:solidFill>
                  <a:srgbClr val="DC7474"/>
                </a:solidFill>
                <a:latin typeface="VAG Rounded Next Shine"/>
                <a:ea typeface="VAG Rounded Next Shine"/>
                <a:cs typeface="VAG Rounded Next Shine"/>
                <a:sym typeface="VAG Rounded Next Shine"/>
              </a:rPr>
              <a:t>INPUTS</a:t>
            </a:r>
          </a:p>
          <a:p>
            <a:pPr algn="l">
              <a:lnSpc>
                <a:spcPts val="4759"/>
              </a:lnSpc>
            </a:pPr>
            <a:r>
              <a:rPr lang="en-US" sz="3399">
                <a:solidFill>
                  <a:srgbClr val="E59696"/>
                </a:solidFill>
                <a:latin typeface="Japan"/>
                <a:ea typeface="Japan"/>
                <a:cs typeface="Japan"/>
                <a:sym typeface="Japan"/>
              </a:rPr>
              <a:t>•</a:t>
            </a:r>
            <a:r>
              <a:rPr lang="en-US" sz="3399">
                <a:solidFill>
                  <a:srgbClr val="E59696"/>
                </a:solidFill>
                <a:latin typeface="Japan"/>
                <a:ea typeface="Japan"/>
                <a:cs typeface="Japan"/>
                <a:sym typeface="Japan"/>
              </a:rPr>
              <a:t> Number of matrices in the chain (n).</a:t>
            </a:r>
          </a:p>
          <a:p>
            <a:pPr algn="l">
              <a:lnSpc>
                <a:spcPts val="4759"/>
              </a:lnSpc>
            </a:pPr>
            <a:r>
              <a:rPr lang="en-US" sz="3399">
                <a:solidFill>
                  <a:srgbClr val="E59696"/>
                </a:solidFill>
                <a:latin typeface="Japan"/>
                <a:ea typeface="Japan"/>
                <a:cs typeface="Japan"/>
                <a:sym typeface="Japan"/>
              </a:rPr>
              <a:t> • Dimensions of each matrix represented as an array P = {p₀, p₁, p₂, ..., pₙ}.</a:t>
            </a:r>
          </a:p>
          <a:p>
            <a:pPr algn="l">
              <a:lnSpc>
                <a:spcPts val="4759"/>
              </a:lnSpc>
            </a:pPr>
            <a:r>
              <a:rPr lang="en-US" sz="3399">
                <a:solidFill>
                  <a:srgbClr val="E59696"/>
                </a:solidFill>
                <a:latin typeface="Japan"/>
                <a:ea typeface="Japan"/>
                <a:cs typeface="Japan"/>
                <a:sym typeface="Japan"/>
              </a:rPr>
              <a:t> • The dimensions must satisfy mat</a:t>
            </a:r>
            <a:r>
              <a:rPr lang="en-US" sz="3399">
                <a:solidFill>
                  <a:srgbClr val="E59696"/>
                </a:solidFill>
                <a:latin typeface="Japan"/>
                <a:ea typeface="Japan"/>
                <a:cs typeface="Japan"/>
                <a:sym typeface="Japan"/>
              </a:rPr>
              <a:t>rix multiplication compatibility rules.</a:t>
            </a:r>
          </a:p>
          <a:p>
            <a:pPr algn="l">
              <a:lnSpc>
                <a:spcPts val="4759"/>
              </a:lnSpc>
            </a:pPr>
            <a:r>
              <a:rPr lang="en-US" sz="3399">
                <a:solidFill>
                  <a:srgbClr val="DC7474"/>
                </a:solidFill>
                <a:latin typeface="VAG Rounded Next Shine"/>
                <a:ea typeface="VAG Rounded Next Shine"/>
                <a:cs typeface="VAG Rounded Next Shine"/>
                <a:sym typeface="VAG Rounded Next Shine"/>
              </a:rPr>
              <a:t>OUTPUTS</a:t>
            </a:r>
          </a:p>
          <a:p>
            <a:pPr algn="l">
              <a:lnSpc>
                <a:spcPts val="4759"/>
              </a:lnSpc>
            </a:pPr>
            <a:r>
              <a:rPr lang="en-US" sz="3399">
                <a:solidFill>
                  <a:srgbClr val="E59696"/>
                </a:solidFill>
                <a:latin typeface="Japan"/>
                <a:ea typeface="Japan"/>
                <a:cs typeface="Japan"/>
                <a:sym typeface="Japan"/>
              </a:rPr>
              <a:t>• Minimum number of scalar multiplications required.</a:t>
            </a:r>
          </a:p>
          <a:p>
            <a:pPr algn="l">
              <a:lnSpc>
                <a:spcPts val="4759"/>
              </a:lnSpc>
            </a:pPr>
            <a:r>
              <a:rPr lang="en-US" sz="3399">
                <a:solidFill>
                  <a:srgbClr val="E59696"/>
                </a:solidFill>
                <a:latin typeface="Japan"/>
                <a:ea typeface="Japan"/>
                <a:cs typeface="Japan"/>
                <a:sym typeface="Japan"/>
              </a:rPr>
              <a:t> • Optimal parenthesization (best multiplication order).</a:t>
            </a:r>
          </a:p>
          <a:p>
            <a:pPr algn="l">
              <a:lnSpc>
                <a:spcPts val="4759"/>
              </a:lnSpc>
            </a:pPr>
            <a:r>
              <a:rPr lang="en-US" sz="3399">
                <a:solidFill>
                  <a:srgbClr val="E59696"/>
                </a:solidFill>
                <a:latin typeface="Japan"/>
                <a:ea typeface="Japan"/>
                <a:cs typeface="Japan"/>
                <a:sym typeface="Japan"/>
              </a:rPr>
              <a:t> • Improved execution efficiency by reducing computation cost.</a:t>
            </a:r>
          </a:p>
          <a:p>
            <a:pPr algn="l">
              <a:lnSpc>
                <a:spcPts val="4759"/>
              </a:lnSpc>
            </a:pPr>
          </a:p>
          <a:p>
            <a:pPr algn="l">
              <a:lnSpc>
                <a:spcPts val="4759"/>
              </a:lnSpc>
            </a:pPr>
          </a:p>
          <a:p>
            <a:pPr algn="l">
              <a:lnSpc>
                <a:spcPts val="4759"/>
              </a:lnSpc>
            </a:pPr>
          </a:p>
          <a:p>
            <a:pPr algn="l">
              <a:lnSpc>
                <a:spcPts val="475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2ED"/>
        </a:solidFill>
      </p:bgPr>
    </p:bg>
    <p:spTree>
      <p:nvGrpSpPr>
        <p:cNvPr id="1" name=""/>
        <p:cNvGrpSpPr/>
        <p:nvPr/>
      </p:nvGrpSpPr>
      <p:grpSpPr>
        <a:xfrm>
          <a:off x="0" y="0"/>
          <a:ext cx="0" cy="0"/>
          <a:chOff x="0" y="0"/>
          <a:chExt cx="0" cy="0"/>
        </a:xfrm>
      </p:grpSpPr>
      <p:sp>
        <p:nvSpPr>
          <p:cNvPr name="Freeform 2" id="2"/>
          <p:cNvSpPr/>
          <p:nvPr/>
        </p:nvSpPr>
        <p:spPr>
          <a:xfrm flipH="false" flipV="false" rot="0">
            <a:off x="-6210437" y="-200289"/>
            <a:ext cx="13054288" cy="9650795"/>
          </a:xfrm>
          <a:custGeom>
            <a:avLst/>
            <a:gdLst/>
            <a:ahLst/>
            <a:cxnLst/>
            <a:rect r="r" b="b" t="t" l="l"/>
            <a:pathLst>
              <a:path h="9650795" w="13054288">
                <a:moveTo>
                  <a:pt x="0" y="0"/>
                </a:moveTo>
                <a:lnTo>
                  <a:pt x="13054288" y="0"/>
                </a:lnTo>
                <a:lnTo>
                  <a:pt x="13054288" y="9650794"/>
                </a:lnTo>
                <a:lnTo>
                  <a:pt x="0" y="9650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84513" y="5143500"/>
            <a:ext cx="9240697" cy="7775103"/>
          </a:xfrm>
          <a:custGeom>
            <a:avLst/>
            <a:gdLst/>
            <a:ahLst/>
            <a:cxnLst/>
            <a:rect r="r" b="b" t="t" l="l"/>
            <a:pathLst>
              <a:path h="7775103" w="9240697">
                <a:moveTo>
                  <a:pt x="0" y="0"/>
                </a:moveTo>
                <a:lnTo>
                  <a:pt x="9240697" y="0"/>
                </a:lnTo>
                <a:lnTo>
                  <a:pt x="9240697" y="7775103"/>
                </a:lnTo>
                <a:lnTo>
                  <a:pt x="0" y="77751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1001842" y="9290531"/>
            <a:ext cx="3024824" cy="1746408"/>
          </a:xfrm>
          <a:custGeom>
            <a:avLst/>
            <a:gdLst/>
            <a:ahLst/>
            <a:cxnLst/>
            <a:rect r="r" b="b" t="t" l="l"/>
            <a:pathLst>
              <a:path h="1746408" w="3024824">
                <a:moveTo>
                  <a:pt x="0" y="0"/>
                </a:moveTo>
                <a:lnTo>
                  <a:pt x="3024824" y="0"/>
                </a:lnTo>
                <a:lnTo>
                  <a:pt x="3024824" y="1746408"/>
                </a:lnTo>
                <a:lnTo>
                  <a:pt x="0" y="17464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529420" y="3499856"/>
            <a:ext cx="6591359" cy="4114800"/>
          </a:xfrm>
          <a:custGeom>
            <a:avLst/>
            <a:gdLst/>
            <a:ahLst/>
            <a:cxnLst/>
            <a:rect r="r" b="b" t="t" l="l"/>
            <a:pathLst>
              <a:path h="4114800" w="6591359">
                <a:moveTo>
                  <a:pt x="0" y="0"/>
                </a:moveTo>
                <a:lnTo>
                  <a:pt x="6591360" y="0"/>
                </a:lnTo>
                <a:lnTo>
                  <a:pt x="659136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9473383">
            <a:off x="-2488578" y="-1532444"/>
            <a:ext cx="7315200" cy="3900850"/>
          </a:xfrm>
          <a:custGeom>
            <a:avLst/>
            <a:gdLst/>
            <a:ahLst/>
            <a:cxnLst/>
            <a:rect r="r" b="b" t="t" l="l"/>
            <a:pathLst>
              <a:path h="3900850" w="7315200">
                <a:moveTo>
                  <a:pt x="0" y="0"/>
                </a:moveTo>
                <a:lnTo>
                  <a:pt x="7315200" y="0"/>
                </a:lnTo>
                <a:lnTo>
                  <a:pt x="7315200" y="3900850"/>
                </a:lnTo>
                <a:lnTo>
                  <a:pt x="0" y="39008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2085039" y="3793270"/>
            <a:ext cx="3113739" cy="2700461"/>
          </a:xfrm>
          <a:custGeom>
            <a:avLst/>
            <a:gdLst/>
            <a:ahLst/>
            <a:cxnLst/>
            <a:rect r="r" b="b" t="t" l="l"/>
            <a:pathLst>
              <a:path h="2700461" w="3113739">
                <a:moveTo>
                  <a:pt x="0" y="0"/>
                </a:moveTo>
                <a:lnTo>
                  <a:pt x="3113739" y="0"/>
                </a:lnTo>
                <a:lnTo>
                  <a:pt x="3113739" y="2700460"/>
                </a:lnTo>
                <a:lnTo>
                  <a:pt x="0" y="270046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6256785" y="8106335"/>
            <a:ext cx="2005030" cy="4114800"/>
          </a:xfrm>
          <a:custGeom>
            <a:avLst/>
            <a:gdLst/>
            <a:ahLst/>
            <a:cxnLst/>
            <a:rect r="r" b="b" t="t" l="l"/>
            <a:pathLst>
              <a:path h="4114800" w="2005030">
                <a:moveTo>
                  <a:pt x="0" y="0"/>
                </a:moveTo>
                <a:lnTo>
                  <a:pt x="2005030" y="0"/>
                </a:lnTo>
                <a:lnTo>
                  <a:pt x="2005030"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8145707" y="8673823"/>
            <a:ext cx="5712271" cy="2846562"/>
          </a:xfrm>
          <a:custGeom>
            <a:avLst/>
            <a:gdLst/>
            <a:ahLst/>
            <a:cxnLst/>
            <a:rect r="r" b="b" t="t" l="l"/>
            <a:pathLst>
              <a:path h="2846562" w="5712271">
                <a:moveTo>
                  <a:pt x="0" y="0"/>
                </a:moveTo>
                <a:lnTo>
                  <a:pt x="5712271" y="0"/>
                </a:lnTo>
                <a:lnTo>
                  <a:pt x="5712271" y="2846562"/>
                </a:lnTo>
                <a:lnTo>
                  <a:pt x="0" y="284656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777834" y="8673823"/>
            <a:ext cx="3893712" cy="2363116"/>
          </a:xfrm>
          <a:custGeom>
            <a:avLst/>
            <a:gdLst/>
            <a:ahLst/>
            <a:cxnLst/>
            <a:rect r="r" b="b" t="t" l="l"/>
            <a:pathLst>
              <a:path h="2363116" w="3893712">
                <a:moveTo>
                  <a:pt x="0" y="0"/>
                </a:moveTo>
                <a:lnTo>
                  <a:pt x="3893712" y="0"/>
                </a:lnTo>
                <a:lnTo>
                  <a:pt x="3893712" y="2363116"/>
                </a:lnTo>
                <a:lnTo>
                  <a:pt x="0" y="236311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14487169" y="-3732654"/>
            <a:ext cx="5544262" cy="5507152"/>
          </a:xfrm>
          <a:custGeom>
            <a:avLst/>
            <a:gdLst/>
            <a:ahLst/>
            <a:cxnLst/>
            <a:rect r="r" b="b" t="t" l="l"/>
            <a:pathLst>
              <a:path h="5507152" w="5544262">
                <a:moveTo>
                  <a:pt x="0" y="0"/>
                </a:moveTo>
                <a:lnTo>
                  <a:pt x="5544262" y="0"/>
                </a:lnTo>
                <a:lnTo>
                  <a:pt x="5544262" y="5507152"/>
                </a:lnTo>
                <a:lnTo>
                  <a:pt x="0" y="550715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4260818" y="770406"/>
            <a:ext cx="10226351" cy="1228235"/>
          </a:xfrm>
          <a:prstGeom prst="rect">
            <a:avLst/>
          </a:prstGeom>
        </p:spPr>
        <p:txBody>
          <a:bodyPr anchor="t" rtlCol="false" tIns="0" lIns="0" bIns="0" rIns="0">
            <a:spAutoFit/>
          </a:bodyPr>
          <a:lstStyle/>
          <a:p>
            <a:pPr algn="ctr">
              <a:lnSpc>
                <a:spcPts val="8740"/>
              </a:lnSpc>
            </a:pPr>
            <a:r>
              <a:rPr lang="en-US" sz="10405">
                <a:solidFill>
                  <a:srgbClr val="6682B9"/>
                </a:solidFill>
                <a:latin typeface="VAG Rounded Next Shine"/>
                <a:ea typeface="VAG Rounded Next Shine"/>
                <a:cs typeface="VAG Rounded Next Shine"/>
                <a:sym typeface="VAG Rounded Next Shine"/>
              </a:rPr>
              <a:t>CONSTRAINTS </a:t>
            </a:r>
          </a:p>
        </p:txBody>
      </p:sp>
      <p:sp>
        <p:nvSpPr>
          <p:cNvPr name="TextBox 13" id="13"/>
          <p:cNvSpPr txBox="true"/>
          <p:nvPr/>
        </p:nvSpPr>
        <p:spPr>
          <a:xfrm rot="0">
            <a:off x="1656633" y="2620253"/>
            <a:ext cx="15872788" cy="6638047"/>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E59696"/>
                </a:solidFill>
                <a:latin typeface="Japan"/>
                <a:ea typeface="Japan"/>
                <a:cs typeface="Japan"/>
                <a:sym typeface="Japan"/>
              </a:rPr>
              <a:t>The number of columns in one matrix must equal the number of rows in the next matrix.</a:t>
            </a:r>
          </a:p>
          <a:p>
            <a:pPr algn="l" marL="734059" indent="-367030" lvl="1">
              <a:lnSpc>
                <a:spcPts val="4759"/>
              </a:lnSpc>
              <a:buFont typeface="Arial"/>
              <a:buChar char="•"/>
            </a:pPr>
            <a:r>
              <a:rPr lang="en-US" sz="3399">
                <a:solidFill>
                  <a:srgbClr val="E59696"/>
                </a:solidFill>
                <a:latin typeface="Japan"/>
                <a:ea typeface="Japan"/>
                <a:cs typeface="Japan"/>
                <a:sym typeface="Japan"/>
              </a:rPr>
              <a:t>The project requires the dimensions of the matrices as input.</a:t>
            </a:r>
          </a:p>
          <a:p>
            <a:pPr algn="l" marL="734059" indent="-367030" lvl="1">
              <a:lnSpc>
                <a:spcPts val="4759"/>
              </a:lnSpc>
              <a:buFont typeface="Arial"/>
              <a:buChar char="•"/>
            </a:pPr>
            <a:r>
              <a:rPr lang="en-US" sz="3399">
                <a:solidFill>
                  <a:srgbClr val="E59696"/>
                </a:solidFill>
                <a:latin typeface="Japan"/>
                <a:ea typeface="Japan"/>
                <a:cs typeface="Japan"/>
                <a:sym typeface="Japan"/>
              </a:rPr>
              <a:t>The order of the matrices cannot be changed; only the multiplication order can be changed.</a:t>
            </a:r>
          </a:p>
          <a:p>
            <a:pPr algn="l" marL="734059" indent="-367030" lvl="1">
              <a:lnSpc>
                <a:spcPts val="4759"/>
              </a:lnSpc>
              <a:buFont typeface="Arial"/>
              <a:buChar char="•"/>
            </a:pPr>
            <a:r>
              <a:rPr lang="en-US" sz="3399">
                <a:solidFill>
                  <a:srgbClr val="E59696"/>
                </a:solidFill>
                <a:latin typeface="Japan"/>
                <a:ea typeface="Japan"/>
                <a:cs typeface="Japan"/>
                <a:sym typeface="Japan"/>
              </a:rPr>
              <a:t>The project focuses on minimizing the number of scalar multiplications, not changing the final result.</a:t>
            </a:r>
          </a:p>
          <a:p>
            <a:pPr algn="l" marL="734059" indent="-367030" lvl="1">
              <a:lnSpc>
                <a:spcPts val="4759"/>
              </a:lnSpc>
              <a:buFont typeface="Arial"/>
              <a:buChar char="•"/>
            </a:pPr>
            <a:r>
              <a:rPr lang="en-US" sz="3399">
                <a:solidFill>
                  <a:srgbClr val="E59696"/>
                </a:solidFill>
                <a:latin typeface="Japan"/>
                <a:ea typeface="Japan"/>
                <a:cs typeface="Japan"/>
                <a:sym typeface="Japan"/>
              </a:rPr>
              <a:t>All matrix dimensions should be positive integers.</a:t>
            </a:r>
          </a:p>
          <a:p>
            <a:pPr algn="l" marL="734059" indent="-367030" lvl="1">
              <a:lnSpc>
                <a:spcPts val="4759"/>
              </a:lnSpc>
              <a:buFont typeface="Arial"/>
              <a:buChar char="•"/>
            </a:pPr>
            <a:r>
              <a:rPr lang="en-US" sz="3399">
                <a:solidFill>
                  <a:srgbClr val="E59696"/>
                </a:solidFill>
                <a:latin typeface="Japan"/>
                <a:ea typeface="Japan"/>
                <a:cs typeface="Japan"/>
                <a:sym typeface="Japan"/>
              </a:rPr>
              <a:t>The project uses the Dynamic Programming approach to find the optimal multiplication order.</a:t>
            </a:r>
          </a:p>
          <a:p>
            <a:pPr algn="l">
              <a:lnSpc>
                <a:spcPts val="475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DAHRCONyeBY</dc:identifier>
  <dcterms:modified xsi:type="dcterms:W3CDTF">2011-08-01T06:04:30Z</dcterms:modified>
  <cp:revision>1</cp:revision>
  <dc:title>Blue Pink Pastel Abstract Cute Group Project Presentation</dc:title>
</cp:coreProperties>
</file>